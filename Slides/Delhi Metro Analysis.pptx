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60" d="100"/>
          <a:sy n="60" d="100"/>
        </p:scale>
        <p:origin x="72" y="11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4FB19-FDF6-000B-03FB-BED6B2E7FD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44F792F-C42C-1BCB-2200-717C02BD11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4619DF-F970-C6EA-4231-CACD0EB41799}"/>
              </a:ext>
            </a:extLst>
          </p:cNvPr>
          <p:cNvSpPr>
            <a:spLocks noGrp="1"/>
          </p:cNvSpPr>
          <p:nvPr>
            <p:ph type="dt" sz="half" idx="10"/>
          </p:nvPr>
        </p:nvSpPr>
        <p:spPr/>
        <p:txBody>
          <a:bodyPr/>
          <a:lstStyle/>
          <a:p>
            <a:fld id="{BA435F19-259A-41D6-B259-D94886202AED}" type="datetimeFigureOut">
              <a:rPr lang="en-IN" smtClean="0"/>
              <a:t>10-11-2025</a:t>
            </a:fld>
            <a:endParaRPr lang="en-IN"/>
          </a:p>
        </p:txBody>
      </p:sp>
      <p:sp>
        <p:nvSpPr>
          <p:cNvPr id="5" name="Footer Placeholder 4">
            <a:extLst>
              <a:ext uri="{FF2B5EF4-FFF2-40B4-BE49-F238E27FC236}">
                <a16:creationId xmlns:a16="http://schemas.microsoft.com/office/drawing/2014/main" id="{8F0296A7-98FD-3B1C-DA05-C808A5967C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95B3C8-919A-9F41-F7BC-39392047C5AC}"/>
              </a:ext>
            </a:extLst>
          </p:cNvPr>
          <p:cNvSpPr>
            <a:spLocks noGrp="1"/>
          </p:cNvSpPr>
          <p:nvPr>
            <p:ph type="sldNum" sz="quarter" idx="12"/>
          </p:nvPr>
        </p:nvSpPr>
        <p:spPr/>
        <p:txBody>
          <a:bodyPr/>
          <a:lstStyle/>
          <a:p>
            <a:fld id="{AED179C7-1370-4F7C-939E-7866D499532D}" type="slidenum">
              <a:rPr lang="en-IN" smtClean="0"/>
              <a:t>‹#›</a:t>
            </a:fld>
            <a:endParaRPr lang="en-IN"/>
          </a:p>
        </p:txBody>
      </p:sp>
    </p:spTree>
    <p:extLst>
      <p:ext uri="{BB962C8B-B14F-4D97-AF65-F5344CB8AC3E}">
        <p14:creationId xmlns:p14="http://schemas.microsoft.com/office/powerpoint/2010/main" val="1990046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1FCAC-A4B4-6838-21C4-C0D572BB26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0725679-5BD7-3E37-243F-625AA2157C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1DDEF1-9B5F-A0AD-AA8B-1E2D5E86A454}"/>
              </a:ext>
            </a:extLst>
          </p:cNvPr>
          <p:cNvSpPr>
            <a:spLocks noGrp="1"/>
          </p:cNvSpPr>
          <p:nvPr>
            <p:ph type="dt" sz="half" idx="10"/>
          </p:nvPr>
        </p:nvSpPr>
        <p:spPr/>
        <p:txBody>
          <a:bodyPr/>
          <a:lstStyle/>
          <a:p>
            <a:fld id="{BA435F19-259A-41D6-B259-D94886202AED}" type="datetimeFigureOut">
              <a:rPr lang="en-IN" smtClean="0"/>
              <a:t>10-11-2025</a:t>
            </a:fld>
            <a:endParaRPr lang="en-IN"/>
          </a:p>
        </p:txBody>
      </p:sp>
      <p:sp>
        <p:nvSpPr>
          <p:cNvPr id="5" name="Footer Placeholder 4">
            <a:extLst>
              <a:ext uri="{FF2B5EF4-FFF2-40B4-BE49-F238E27FC236}">
                <a16:creationId xmlns:a16="http://schemas.microsoft.com/office/drawing/2014/main" id="{40F9006C-964B-C8FD-7DE3-3537F92421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BD8763-EBE0-5E93-E86D-627CCE634C21}"/>
              </a:ext>
            </a:extLst>
          </p:cNvPr>
          <p:cNvSpPr>
            <a:spLocks noGrp="1"/>
          </p:cNvSpPr>
          <p:nvPr>
            <p:ph type="sldNum" sz="quarter" idx="12"/>
          </p:nvPr>
        </p:nvSpPr>
        <p:spPr/>
        <p:txBody>
          <a:bodyPr/>
          <a:lstStyle/>
          <a:p>
            <a:fld id="{AED179C7-1370-4F7C-939E-7866D499532D}" type="slidenum">
              <a:rPr lang="en-IN" smtClean="0"/>
              <a:t>‹#›</a:t>
            </a:fld>
            <a:endParaRPr lang="en-IN"/>
          </a:p>
        </p:txBody>
      </p:sp>
    </p:spTree>
    <p:extLst>
      <p:ext uri="{BB962C8B-B14F-4D97-AF65-F5344CB8AC3E}">
        <p14:creationId xmlns:p14="http://schemas.microsoft.com/office/powerpoint/2010/main" val="2985890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15214-22E2-30DB-AC1E-B5338A6096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B5638AF-1D60-1592-5EEE-14BB888CAA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AF2E70-B45B-6078-A7DE-0EE91F485ACA}"/>
              </a:ext>
            </a:extLst>
          </p:cNvPr>
          <p:cNvSpPr>
            <a:spLocks noGrp="1"/>
          </p:cNvSpPr>
          <p:nvPr>
            <p:ph type="dt" sz="half" idx="10"/>
          </p:nvPr>
        </p:nvSpPr>
        <p:spPr/>
        <p:txBody>
          <a:bodyPr/>
          <a:lstStyle/>
          <a:p>
            <a:fld id="{BA435F19-259A-41D6-B259-D94886202AED}" type="datetimeFigureOut">
              <a:rPr lang="en-IN" smtClean="0"/>
              <a:t>10-11-2025</a:t>
            </a:fld>
            <a:endParaRPr lang="en-IN"/>
          </a:p>
        </p:txBody>
      </p:sp>
      <p:sp>
        <p:nvSpPr>
          <p:cNvPr id="5" name="Footer Placeholder 4">
            <a:extLst>
              <a:ext uri="{FF2B5EF4-FFF2-40B4-BE49-F238E27FC236}">
                <a16:creationId xmlns:a16="http://schemas.microsoft.com/office/drawing/2014/main" id="{3A01D7E8-3B6E-E742-F54B-36D51D2DD7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5BE518-EB82-78D3-9092-19060BDD730A}"/>
              </a:ext>
            </a:extLst>
          </p:cNvPr>
          <p:cNvSpPr>
            <a:spLocks noGrp="1"/>
          </p:cNvSpPr>
          <p:nvPr>
            <p:ph type="sldNum" sz="quarter" idx="12"/>
          </p:nvPr>
        </p:nvSpPr>
        <p:spPr/>
        <p:txBody>
          <a:bodyPr/>
          <a:lstStyle/>
          <a:p>
            <a:fld id="{AED179C7-1370-4F7C-939E-7866D499532D}" type="slidenum">
              <a:rPr lang="en-IN" smtClean="0"/>
              <a:t>‹#›</a:t>
            </a:fld>
            <a:endParaRPr lang="en-IN"/>
          </a:p>
        </p:txBody>
      </p:sp>
    </p:spTree>
    <p:extLst>
      <p:ext uri="{BB962C8B-B14F-4D97-AF65-F5344CB8AC3E}">
        <p14:creationId xmlns:p14="http://schemas.microsoft.com/office/powerpoint/2010/main" val="633867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86EF9-9C8D-DAFA-4332-A18B9E0829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7AA436-1C88-FF44-0024-04A1DC35E7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C313E82-3686-8965-0B2B-305920B6C4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55AAE26-760A-0AAD-883D-204604CE4EFF}"/>
              </a:ext>
            </a:extLst>
          </p:cNvPr>
          <p:cNvSpPr>
            <a:spLocks noGrp="1"/>
          </p:cNvSpPr>
          <p:nvPr>
            <p:ph type="dt" sz="half" idx="10"/>
          </p:nvPr>
        </p:nvSpPr>
        <p:spPr/>
        <p:txBody>
          <a:bodyPr/>
          <a:lstStyle/>
          <a:p>
            <a:fld id="{BA435F19-259A-41D6-B259-D94886202AED}" type="datetimeFigureOut">
              <a:rPr lang="en-IN" smtClean="0"/>
              <a:t>10-11-2025</a:t>
            </a:fld>
            <a:endParaRPr lang="en-IN"/>
          </a:p>
        </p:txBody>
      </p:sp>
      <p:sp>
        <p:nvSpPr>
          <p:cNvPr id="6" name="Footer Placeholder 5">
            <a:extLst>
              <a:ext uri="{FF2B5EF4-FFF2-40B4-BE49-F238E27FC236}">
                <a16:creationId xmlns:a16="http://schemas.microsoft.com/office/drawing/2014/main" id="{04A65572-F6A6-ABCC-711C-0E0B153AF2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7EE31F-7FC5-AD9B-94DE-5D37B4800077}"/>
              </a:ext>
            </a:extLst>
          </p:cNvPr>
          <p:cNvSpPr>
            <a:spLocks noGrp="1"/>
          </p:cNvSpPr>
          <p:nvPr>
            <p:ph type="sldNum" sz="quarter" idx="12"/>
          </p:nvPr>
        </p:nvSpPr>
        <p:spPr/>
        <p:txBody>
          <a:bodyPr/>
          <a:lstStyle/>
          <a:p>
            <a:fld id="{AED179C7-1370-4F7C-939E-7866D499532D}" type="slidenum">
              <a:rPr lang="en-IN" smtClean="0"/>
              <a:t>‹#›</a:t>
            </a:fld>
            <a:endParaRPr lang="en-IN"/>
          </a:p>
        </p:txBody>
      </p:sp>
    </p:spTree>
    <p:extLst>
      <p:ext uri="{BB962C8B-B14F-4D97-AF65-F5344CB8AC3E}">
        <p14:creationId xmlns:p14="http://schemas.microsoft.com/office/powerpoint/2010/main" val="893323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BB3DA-F398-FA1B-09A3-12D048432E7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4C0CE00-2394-BF3F-B625-C58623321B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1AD457-3505-AE46-DB1B-88CB0E6089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94AD25-250F-250E-3DC0-D91483E396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DFE5E3-598B-BDA5-6DB5-E102FD3ED3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2D34283-FD07-77A7-94C0-51C358E5B50F}"/>
              </a:ext>
            </a:extLst>
          </p:cNvPr>
          <p:cNvSpPr>
            <a:spLocks noGrp="1"/>
          </p:cNvSpPr>
          <p:nvPr>
            <p:ph type="dt" sz="half" idx="10"/>
          </p:nvPr>
        </p:nvSpPr>
        <p:spPr/>
        <p:txBody>
          <a:bodyPr/>
          <a:lstStyle/>
          <a:p>
            <a:fld id="{BA435F19-259A-41D6-B259-D94886202AED}" type="datetimeFigureOut">
              <a:rPr lang="en-IN" smtClean="0"/>
              <a:t>10-11-2025</a:t>
            </a:fld>
            <a:endParaRPr lang="en-IN"/>
          </a:p>
        </p:txBody>
      </p:sp>
      <p:sp>
        <p:nvSpPr>
          <p:cNvPr id="8" name="Footer Placeholder 7">
            <a:extLst>
              <a:ext uri="{FF2B5EF4-FFF2-40B4-BE49-F238E27FC236}">
                <a16:creationId xmlns:a16="http://schemas.microsoft.com/office/drawing/2014/main" id="{1C314D6F-69D0-4FB5-0F8A-48A034B87A9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78003FC-BFFC-EE52-1FF2-43113140661A}"/>
              </a:ext>
            </a:extLst>
          </p:cNvPr>
          <p:cNvSpPr>
            <a:spLocks noGrp="1"/>
          </p:cNvSpPr>
          <p:nvPr>
            <p:ph type="sldNum" sz="quarter" idx="12"/>
          </p:nvPr>
        </p:nvSpPr>
        <p:spPr/>
        <p:txBody>
          <a:bodyPr/>
          <a:lstStyle/>
          <a:p>
            <a:fld id="{AED179C7-1370-4F7C-939E-7866D499532D}" type="slidenum">
              <a:rPr lang="en-IN" smtClean="0"/>
              <a:t>‹#›</a:t>
            </a:fld>
            <a:endParaRPr lang="en-IN"/>
          </a:p>
        </p:txBody>
      </p:sp>
    </p:spTree>
    <p:extLst>
      <p:ext uri="{BB962C8B-B14F-4D97-AF65-F5344CB8AC3E}">
        <p14:creationId xmlns:p14="http://schemas.microsoft.com/office/powerpoint/2010/main" val="4015471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B32A4-0681-0E5B-F37D-C91A0DA510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41A337F-5585-165E-C7F9-5CBBEAB89889}"/>
              </a:ext>
            </a:extLst>
          </p:cNvPr>
          <p:cNvSpPr>
            <a:spLocks noGrp="1"/>
          </p:cNvSpPr>
          <p:nvPr>
            <p:ph type="dt" sz="half" idx="10"/>
          </p:nvPr>
        </p:nvSpPr>
        <p:spPr/>
        <p:txBody>
          <a:bodyPr/>
          <a:lstStyle/>
          <a:p>
            <a:fld id="{BA435F19-259A-41D6-B259-D94886202AED}" type="datetimeFigureOut">
              <a:rPr lang="en-IN" smtClean="0"/>
              <a:t>10-11-2025</a:t>
            </a:fld>
            <a:endParaRPr lang="en-IN"/>
          </a:p>
        </p:txBody>
      </p:sp>
      <p:sp>
        <p:nvSpPr>
          <p:cNvPr id="4" name="Footer Placeholder 3">
            <a:extLst>
              <a:ext uri="{FF2B5EF4-FFF2-40B4-BE49-F238E27FC236}">
                <a16:creationId xmlns:a16="http://schemas.microsoft.com/office/drawing/2014/main" id="{711110EA-D0D6-8065-A8EF-DC6A26DDF8C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8181CAC-D3A1-7441-388B-2A6D0D689031}"/>
              </a:ext>
            </a:extLst>
          </p:cNvPr>
          <p:cNvSpPr>
            <a:spLocks noGrp="1"/>
          </p:cNvSpPr>
          <p:nvPr>
            <p:ph type="sldNum" sz="quarter" idx="12"/>
          </p:nvPr>
        </p:nvSpPr>
        <p:spPr/>
        <p:txBody>
          <a:bodyPr/>
          <a:lstStyle/>
          <a:p>
            <a:fld id="{AED179C7-1370-4F7C-939E-7866D499532D}" type="slidenum">
              <a:rPr lang="en-IN" smtClean="0"/>
              <a:t>‹#›</a:t>
            </a:fld>
            <a:endParaRPr lang="en-IN"/>
          </a:p>
        </p:txBody>
      </p:sp>
    </p:spTree>
    <p:extLst>
      <p:ext uri="{BB962C8B-B14F-4D97-AF65-F5344CB8AC3E}">
        <p14:creationId xmlns:p14="http://schemas.microsoft.com/office/powerpoint/2010/main" val="4288245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827F48-D893-046D-64B7-C894869AA792}"/>
              </a:ext>
            </a:extLst>
          </p:cNvPr>
          <p:cNvSpPr>
            <a:spLocks noGrp="1"/>
          </p:cNvSpPr>
          <p:nvPr>
            <p:ph type="dt" sz="half" idx="10"/>
          </p:nvPr>
        </p:nvSpPr>
        <p:spPr/>
        <p:txBody>
          <a:bodyPr/>
          <a:lstStyle/>
          <a:p>
            <a:fld id="{BA435F19-259A-41D6-B259-D94886202AED}" type="datetimeFigureOut">
              <a:rPr lang="en-IN" smtClean="0"/>
              <a:t>10-11-2025</a:t>
            </a:fld>
            <a:endParaRPr lang="en-IN"/>
          </a:p>
        </p:txBody>
      </p:sp>
      <p:sp>
        <p:nvSpPr>
          <p:cNvPr id="3" name="Footer Placeholder 2">
            <a:extLst>
              <a:ext uri="{FF2B5EF4-FFF2-40B4-BE49-F238E27FC236}">
                <a16:creationId xmlns:a16="http://schemas.microsoft.com/office/drawing/2014/main" id="{84F0C0E7-3423-E65D-C370-C51AAC1DA75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1E8286A-9FDA-C1C3-C0B9-7140A257404E}"/>
              </a:ext>
            </a:extLst>
          </p:cNvPr>
          <p:cNvSpPr>
            <a:spLocks noGrp="1"/>
          </p:cNvSpPr>
          <p:nvPr>
            <p:ph type="sldNum" sz="quarter" idx="12"/>
          </p:nvPr>
        </p:nvSpPr>
        <p:spPr/>
        <p:txBody>
          <a:bodyPr/>
          <a:lstStyle/>
          <a:p>
            <a:fld id="{AED179C7-1370-4F7C-939E-7866D499532D}" type="slidenum">
              <a:rPr lang="en-IN" smtClean="0"/>
              <a:t>‹#›</a:t>
            </a:fld>
            <a:endParaRPr lang="en-IN"/>
          </a:p>
        </p:txBody>
      </p:sp>
    </p:spTree>
    <p:extLst>
      <p:ext uri="{BB962C8B-B14F-4D97-AF65-F5344CB8AC3E}">
        <p14:creationId xmlns:p14="http://schemas.microsoft.com/office/powerpoint/2010/main" val="118058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56A60-63F8-41B6-85D2-BB635CD971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A9D4398-6343-F19C-60B6-B82325D5DF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ECB6F88-DF9B-7F34-B1D6-D3E92C644E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ADF314-449E-D1C3-2A7A-022E92D50A41}"/>
              </a:ext>
            </a:extLst>
          </p:cNvPr>
          <p:cNvSpPr>
            <a:spLocks noGrp="1"/>
          </p:cNvSpPr>
          <p:nvPr>
            <p:ph type="dt" sz="half" idx="10"/>
          </p:nvPr>
        </p:nvSpPr>
        <p:spPr/>
        <p:txBody>
          <a:bodyPr/>
          <a:lstStyle/>
          <a:p>
            <a:fld id="{BA435F19-259A-41D6-B259-D94886202AED}" type="datetimeFigureOut">
              <a:rPr lang="en-IN" smtClean="0"/>
              <a:t>10-11-2025</a:t>
            </a:fld>
            <a:endParaRPr lang="en-IN"/>
          </a:p>
        </p:txBody>
      </p:sp>
      <p:sp>
        <p:nvSpPr>
          <p:cNvPr id="6" name="Footer Placeholder 5">
            <a:extLst>
              <a:ext uri="{FF2B5EF4-FFF2-40B4-BE49-F238E27FC236}">
                <a16:creationId xmlns:a16="http://schemas.microsoft.com/office/drawing/2014/main" id="{A7FEBA41-ED4A-D35B-C6DA-973BB2C839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CA3E6B-8935-6CF3-7EDB-8A7884FAC87F}"/>
              </a:ext>
            </a:extLst>
          </p:cNvPr>
          <p:cNvSpPr>
            <a:spLocks noGrp="1"/>
          </p:cNvSpPr>
          <p:nvPr>
            <p:ph type="sldNum" sz="quarter" idx="12"/>
          </p:nvPr>
        </p:nvSpPr>
        <p:spPr/>
        <p:txBody>
          <a:bodyPr/>
          <a:lstStyle/>
          <a:p>
            <a:fld id="{AED179C7-1370-4F7C-939E-7866D499532D}" type="slidenum">
              <a:rPr lang="en-IN" smtClean="0"/>
              <a:t>‹#›</a:t>
            </a:fld>
            <a:endParaRPr lang="en-IN"/>
          </a:p>
        </p:txBody>
      </p:sp>
    </p:spTree>
    <p:extLst>
      <p:ext uri="{BB962C8B-B14F-4D97-AF65-F5344CB8AC3E}">
        <p14:creationId xmlns:p14="http://schemas.microsoft.com/office/powerpoint/2010/main" val="4071134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F535A-3543-F8F6-DAD0-3142FD24E0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9A227FC-0542-37FC-D8EF-C3632ED3B0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B6CF168-8616-EF63-3606-829BED757D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B6B92F-4F53-F22C-7E20-8903B16DFB1A}"/>
              </a:ext>
            </a:extLst>
          </p:cNvPr>
          <p:cNvSpPr>
            <a:spLocks noGrp="1"/>
          </p:cNvSpPr>
          <p:nvPr>
            <p:ph type="dt" sz="half" idx="10"/>
          </p:nvPr>
        </p:nvSpPr>
        <p:spPr/>
        <p:txBody>
          <a:bodyPr/>
          <a:lstStyle/>
          <a:p>
            <a:fld id="{BA435F19-259A-41D6-B259-D94886202AED}" type="datetimeFigureOut">
              <a:rPr lang="en-IN" smtClean="0"/>
              <a:t>10-11-2025</a:t>
            </a:fld>
            <a:endParaRPr lang="en-IN"/>
          </a:p>
        </p:txBody>
      </p:sp>
      <p:sp>
        <p:nvSpPr>
          <p:cNvPr id="6" name="Footer Placeholder 5">
            <a:extLst>
              <a:ext uri="{FF2B5EF4-FFF2-40B4-BE49-F238E27FC236}">
                <a16:creationId xmlns:a16="http://schemas.microsoft.com/office/drawing/2014/main" id="{8299B36D-C69D-ACB7-3415-8DDE8C9BFF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9AE2B1-D70D-FE12-E4C1-AA032105578A}"/>
              </a:ext>
            </a:extLst>
          </p:cNvPr>
          <p:cNvSpPr>
            <a:spLocks noGrp="1"/>
          </p:cNvSpPr>
          <p:nvPr>
            <p:ph type="sldNum" sz="quarter" idx="12"/>
          </p:nvPr>
        </p:nvSpPr>
        <p:spPr/>
        <p:txBody>
          <a:bodyPr/>
          <a:lstStyle/>
          <a:p>
            <a:fld id="{AED179C7-1370-4F7C-939E-7866D499532D}" type="slidenum">
              <a:rPr lang="en-IN" smtClean="0"/>
              <a:t>‹#›</a:t>
            </a:fld>
            <a:endParaRPr lang="en-IN"/>
          </a:p>
        </p:txBody>
      </p:sp>
    </p:spTree>
    <p:extLst>
      <p:ext uri="{BB962C8B-B14F-4D97-AF65-F5344CB8AC3E}">
        <p14:creationId xmlns:p14="http://schemas.microsoft.com/office/powerpoint/2010/main" val="26718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046CF-6064-AD73-FF3B-9CDDCC7EC19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51B5765-5577-EC22-8A07-1413A2DE83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D4FD62-4A40-2F7B-069B-841859D1CBE9}"/>
              </a:ext>
            </a:extLst>
          </p:cNvPr>
          <p:cNvSpPr>
            <a:spLocks noGrp="1"/>
          </p:cNvSpPr>
          <p:nvPr>
            <p:ph type="dt" sz="half" idx="10"/>
          </p:nvPr>
        </p:nvSpPr>
        <p:spPr/>
        <p:txBody>
          <a:bodyPr/>
          <a:lstStyle/>
          <a:p>
            <a:fld id="{BA435F19-259A-41D6-B259-D94886202AED}" type="datetimeFigureOut">
              <a:rPr lang="en-IN" smtClean="0"/>
              <a:t>10-11-2025</a:t>
            </a:fld>
            <a:endParaRPr lang="en-IN"/>
          </a:p>
        </p:txBody>
      </p:sp>
      <p:sp>
        <p:nvSpPr>
          <p:cNvPr id="5" name="Footer Placeholder 4">
            <a:extLst>
              <a:ext uri="{FF2B5EF4-FFF2-40B4-BE49-F238E27FC236}">
                <a16:creationId xmlns:a16="http://schemas.microsoft.com/office/drawing/2014/main" id="{87A403CE-836A-551D-6DF7-AE7BA3A44F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722FEE-D605-6615-C57D-FCADD6F99C5C}"/>
              </a:ext>
            </a:extLst>
          </p:cNvPr>
          <p:cNvSpPr>
            <a:spLocks noGrp="1"/>
          </p:cNvSpPr>
          <p:nvPr>
            <p:ph type="sldNum" sz="quarter" idx="12"/>
          </p:nvPr>
        </p:nvSpPr>
        <p:spPr/>
        <p:txBody>
          <a:bodyPr/>
          <a:lstStyle/>
          <a:p>
            <a:fld id="{AED179C7-1370-4F7C-939E-7866D499532D}" type="slidenum">
              <a:rPr lang="en-IN" smtClean="0"/>
              <a:t>‹#›</a:t>
            </a:fld>
            <a:endParaRPr lang="en-IN"/>
          </a:p>
        </p:txBody>
      </p:sp>
    </p:spTree>
    <p:extLst>
      <p:ext uri="{BB962C8B-B14F-4D97-AF65-F5344CB8AC3E}">
        <p14:creationId xmlns:p14="http://schemas.microsoft.com/office/powerpoint/2010/main" val="1462849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49B10B-B8D0-2BC4-FA1A-180B02DD564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929C89-5061-ABA1-157B-7C647FE565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BBDCC5-BEDC-B396-CE1E-F5E6DFACAA69}"/>
              </a:ext>
            </a:extLst>
          </p:cNvPr>
          <p:cNvSpPr>
            <a:spLocks noGrp="1"/>
          </p:cNvSpPr>
          <p:nvPr>
            <p:ph type="dt" sz="half" idx="10"/>
          </p:nvPr>
        </p:nvSpPr>
        <p:spPr/>
        <p:txBody>
          <a:bodyPr/>
          <a:lstStyle/>
          <a:p>
            <a:fld id="{BA435F19-259A-41D6-B259-D94886202AED}" type="datetimeFigureOut">
              <a:rPr lang="en-IN" smtClean="0"/>
              <a:t>10-11-2025</a:t>
            </a:fld>
            <a:endParaRPr lang="en-IN"/>
          </a:p>
        </p:txBody>
      </p:sp>
      <p:sp>
        <p:nvSpPr>
          <p:cNvPr id="5" name="Footer Placeholder 4">
            <a:extLst>
              <a:ext uri="{FF2B5EF4-FFF2-40B4-BE49-F238E27FC236}">
                <a16:creationId xmlns:a16="http://schemas.microsoft.com/office/drawing/2014/main" id="{762A886A-6DE4-C018-4A1D-F619023253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94C32C-0265-5C04-D6E0-1376F2DBE2CF}"/>
              </a:ext>
            </a:extLst>
          </p:cNvPr>
          <p:cNvSpPr>
            <a:spLocks noGrp="1"/>
          </p:cNvSpPr>
          <p:nvPr>
            <p:ph type="sldNum" sz="quarter" idx="12"/>
          </p:nvPr>
        </p:nvSpPr>
        <p:spPr/>
        <p:txBody>
          <a:bodyPr/>
          <a:lstStyle/>
          <a:p>
            <a:fld id="{AED179C7-1370-4F7C-939E-7866D499532D}" type="slidenum">
              <a:rPr lang="en-IN" smtClean="0"/>
              <a:t>‹#›</a:t>
            </a:fld>
            <a:endParaRPr lang="en-IN"/>
          </a:p>
        </p:txBody>
      </p:sp>
    </p:spTree>
    <p:extLst>
      <p:ext uri="{BB962C8B-B14F-4D97-AF65-F5344CB8AC3E}">
        <p14:creationId xmlns:p14="http://schemas.microsoft.com/office/powerpoint/2010/main" val="2238417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255F03-D68D-5497-5035-027C50575F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77AE8E-629A-3C1C-2917-413129AECD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62260B-F627-72CC-F60A-A0E007BAB8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435F19-259A-41D6-B259-D94886202AED}" type="datetimeFigureOut">
              <a:rPr lang="en-IN" smtClean="0"/>
              <a:t>10-11-2025</a:t>
            </a:fld>
            <a:endParaRPr lang="en-IN"/>
          </a:p>
        </p:txBody>
      </p:sp>
      <p:sp>
        <p:nvSpPr>
          <p:cNvPr id="5" name="Footer Placeholder 4">
            <a:extLst>
              <a:ext uri="{FF2B5EF4-FFF2-40B4-BE49-F238E27FC236}">
                <a16:creationId xmlns:a16="http://schemas.microsoft.com/office/drawing/2014/main" id="{661B4D03-6A22-B767-4FBD-183D3A7788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11546E3-DE8B-56AF-D381-05990BFAA6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D179C7-1370-4F7C-939E-7866D499532D}" type="slidenum">
              <a:rPr lang="en-IN" smtClean="0"/>
              <a:t>‹#›</a:t>
            </a:fld>
            <a:endParaRPr lang="en-IN"/>
          </a:p>
        </p:txBody>
      </p:sp>
    </p:spTree>
    <p:extLst>
      <p:ext uri="{BB962C8B-B14F-4D97-AF65-F5344CB8AC3E}">
        <p14:creationId xmlns:p14="http://schemas.microsoft.com/office/powerpoint/2010/main" val="20965226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A6E2F-2E09-9FF0-1645-1ACD3CB220BB}"/>
              </a:ext>
            </a:extLst>
          </p:cNvPr>
          <p:cNvSpPr>
            <a:spLocks noGrp="1"/>
          </p:cNvSpPr>
          <p:nvPr>
            <p:ph type="ctrTitle"/>
          </p:nvPr>
        </p:nvSpPr>
        <p:spPr>
          <a:xfrm>
            <a:off x="1667436" y="521368"/>
            <a:ext cx="9144000" cy="1275348"/>
          </a:xfrm>
        </p:spPr>
        <p:txBody>
          <a:bodyPr>
            <a:normAutofit/>
          </a:bodyPr>
          <a:lstStyle/>
          <a:p>
            <a:r>
              <a:rPr lang="en-US" dirty="0">
                <a:solidFill>
                  <a:schemeClr val="bg1"/>
                </a:solidFill>
                <a:highlight>
                  <a:srgbClr val="800000"/>
                </a:highlight>
              </a:rPr>
              <a:t>Delhi Metro Analysis</a:t>
            </a:r>
            <a:endParaRPr lang="en-IN" dirty="0">
              <a:solidFill>
                <a:schemeClr val="bg1"/>
              </a:solidFill>
              <a:highlight>
                <a:srgbClr val="800000"/>
              </a:highlight>
            </a:endParaRPr>
          </a:p>
        </p:txBody>
      </p:sp>
      <p:sp>
        <p:nvSpPr>
          <p:cNvPr id="3" name="Subtitle 2">
            <a:extLst>
              <a:ext uri="{FF2B5EF4-FFF2-40B4-BE49-F238E27FC236}">
                <a16:creationId xmlns:a16="http://schemas.microsoft.com/office/drawing/2014/main" id="{A9D665E5-39ED-BF12-1B32-75E000B3CB22}"/>
              </a:ext>
            </a:extLst>
          </p:cNvPr>
          <p:cNvSpPr>
            <a:spLocks noGrp="1"/>
          </p:cNvSpPr>
          <p:nvPr>
            <p:ph type="subTitle" idx="1"/>
          </p:nvPr>
        </p:nvSpPr>
        <p:spPr>
          <a:xfrm rot="10800000" flipV="1">
            <a:off x="182310" y="2294020"/>
            <a:ext cx="11865310" cy="4042611"/>
          </a:xfrm>
        </p:spPr>
        <p:txBody>
          <a:bodyPr>
            <a:noAutofit/>
          </a:bodyPr>
          <a:lstStyle/>
          <a:p>
            <a:pPr algn="l"/>
            <a:r>
              <a:rPr lang="en-US" sz="4000" b="1" dirty="0">
                <a:solidFill>
                  <a:srgbClr val="C00000"/>
                </a:solidFill>
              </a:rPr>
              <a:t>Overview</a:t>
            </a:r>
            <a:r>
              <a:rPr lang="en-US" sz="4000" dirty="0"/>
              <a:t> - </a:t>
            </a:r>
            <a:r>
              <a:rPr lang="en-US" sz="3600" dirty="0">
                <a:solidFill>
                  <a:srgbClr val="002060"/>
                </a:solidFill>
              </a:rPr>
              <a:t>This project analyzes 150,000+ Delhi Metro trip records to understand ridership patterns, revenue trends, and metro-line performance. The dataset was cleaned, enriched with new features (Day, Month, Year, Metro Line, Revenue, Profit), and explored through visualizations to identify the busiest corridors, ticket usage behavior, and operational inefficiencies. The analysis provides actionable insights to improve metro service planning and passenger management</a:t>
            </a:r>
            <a:r>
              <a:rPr lang="en-US" sz="3600" dirty="0"/>
              <a:t>.</a:t>
            </a:r>
            <a:endParaRPr lang="en-IN" sz="3600" dirty="0"/>
          </a:p>
        </p:txBody>
      </p:sp>
    </p:spTree>
    <p:extLst>
      <p:ext uri="{BB962C8B-B14F-4D97-AF65-F5344CB8AC3E}">
        <p14:creationId xmlns:p14="http://schemas.microsoft.com/office/powerpoint/2010/main" val="17697676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CAF70-8913-7C02-1E55-BAAA337FDD77}"/>
              </a:ext>
            </a:extLst>
          </p:cNvPr>
          <p:cNvSpPr>
            <a:spLocks noGrp="1"/>
          </p:cNvSpPr>
          <p:nvPr>
            <p:ph type="title"/>
          </p:nvPr>
        </p:nvSpPr>
        <p:spPr>
          <a:xfrm>
            <a:off x="838200" y="365125"/>
            <a:ext cx="10515600" cy="1608054"/>
          </a:xfrm>
        </p:spPr>
        <p:txBody>
          <a:bodyPr>
            <a:normAutofit/>
          </a:bodyPr>
          <a:lstStyle/>
          <a:p>
            <a:pPr algn="ctr"/>
            <a:r>
              <a:rPr lang="en-US" sz="6000" dirty="0">
                <a:solidFill>
                  <a:schemeClr val="bg2"/>
                </a:solidFill>
                <a:highlight>
                  <a:srgbClr val="800000"/>
                </a:highlight>
              </a:rPr>
              <a:t>Data Cleaning and preprocessing</a:t>
            </a:r>
            <a:endParaRPr lang="en-IN" sz="6000" dirty="0">
              <a:solidFill>
                <a:schemeClr val="bg2"/>
              </a:solidFill>
              <a:highlight>
                <a:srgbClr val="800000"/>
              </a:highlight>
            </a:endParaRPr>
          </a:p>
        </p:txBody>
      </p:sp>
      <p:sp>
        <p:nvSpPr>
          <p:cNvPr id="3" name="Content Placeholder 2">
            <a:extLst>
              <a:ext uri="{FF2B5EF4-FFF2-40B4-BE49-F238E27FC236}">
                <a16:creationId xmlns:a16="http://schemas.microsoft.com/office/drawing/2014/main" id="{34D1C644-1DD9-77BB-121F-CF19A1B09A70}"/>
              </a:ext>
            </a:extLst>
          </p:cNvPr>
          <p:cNvSpPr>
            <a:spLocks noGrp="1"/>
          </p:cNvSpPr>
          <p:nvPr>
            <p:ph idx="1"/>
          </p:nvPr>
        </p:nvSpPr>
        <p:spPr>
          <a:xfrm>
            <a:off x="838200" y="2141537"/>
            <a:ext cx="10515600" cy="4351338"/>
          </a:xfrm>
        </p:spPr>
        <p:txBody>
          <a:bodyPr/>
          <a:lstStyle/>
          <a:p>
            <a:pPr marL="514350" indent="-514350">
              <a:buFont typeface="+mj-lt"/>
              <a:buAutoNum type="arabicPeriod"/>
            </a:pPr>
            <a:r>
              <a:rPr lang="en-US" dirty="0">
                <a:solidFill>
                  <a:schemeClr val="accent6">
                    <a:lumMod val="50000"/>
                  </a:schemeClr>
                </a:solidFill>
              </a:rPr>
              <a:t>Identified leading and trailing spaces in the `</a:t>
            </a:r>
            <a:r>
              <a:rPr lang="en-US" dirty="0" err="1">
                <a:solidFill>
                  <a:schemeClr val="accent6">
                    <a:lumMod val="50000"/>
                  </a:schemeClr>
                </a:solidFill>
              </a:rPr>
              <a:t>From_Station</a:t>
            </a:r>
            <a:r>
              <a:rPr lang="en-US" dirty="0">
                <a:solidFill>
                  <a:schemeClr val="accent6">
                    <a:lumMod val="50000"/>
                  </a:schemeClr>
                </a:solidFill>
              </a:rPr>
              <a:t>` and `</a:t>
            </a:r>
            <a:r>
              <a:rPr lang="en-US" dirty="0" err="1">
                <a:solidFill>
                  <a:schemeClr val="accent6">
                    <a:lumMod val="50000"/>
                  </a:schemeClr>
                </a:solidFill>
              </a:rPr>
              <a:t>To_Station</a:t>
            </a:r>
            <a:r>
              <a:rPr lang="en-US" dirty="0">
                <a:solidFill>
                  <a:schemeClr val="accent6">
                    <a:lumMod val="50000"/>
                  </a:schemeClr>
                </a:solidFill>
              </a:rPr>
              <a:t>` columns, cleaned using .</a:t>
            </a:r>
            <a:r>
              <a:rPr lang="en-US" dirty="0" err="1">
                <a:solidFill>
                  <a:schemeClr val="accent6">
                    <a:lumMod val="50000"/>
                  </a:schemeClr>
                </a:solidFill>
              </a:rPr>
              <a:t>str.strip</a:t>
            </a:r>
            <a:r>
              <a:rPr lang="en-US" dirty="0">
                <a:solidFill>
                  <a:schemeClr val="accent6">
                    <a:lumMod val="50000"/>
                  </a:schemeClr>
                </a:solidFill>
              </a:rPr>
              <a:t>() and standardized using </a:t>
            </a:r>
            <a:r>
              <a:rPr lang="en-US" dirty="0" err="1">
                <a:solidFill>
                  <a:schemeClr val="accent6">
                    <a:lumMod val="50000"/>
                  </a:schemeClr>
                </a:solidFill>
              </a:rPr>
              <a:t>str.title</a:t>
            </a:r>
            <a:r>
              <a:rPr lang="en-US" dirty="0">
                <a:solidFill>
                  <a:schemeClr val="accent6">
                    <a:lumMod val="50000"/>
                  </a:schemeClr>
                </a:solidFill>
              </a:rPr>
              <a:t>().</a:t>
            </a:r>
          </a:p>
          <a:p>
            <a:pPr marL="514350" indent="-514350">
              <a:buFont typeface="+mj-lt"/>
              <a:buAutoNum type="arabicPeriod"/>
            </a:pPr>
            <a:r>
              <a:rPr lang="en-US" dirty="0">
                <a:solidFill>
                  <a:srgbClr val="FF0000"/>
                </a:solidFill>
              </a:rPr>
              <a:t>Normalized inconsistent casing, spacing, and variations in station names to ensure accurate grouping and mapping</a:t>
            </a:r>
            <a:r>
              <a:rPr lang="en-US" dirty="0"/>
              <a:t>.</a:t>
            </a:r>
          </a:p>
          <a:p>
            <a:pPr marL="514350" indent="-514350">
              <a:buFont typeface="+mj-lt"/>
              <a:buAutoNum type="arabicPeriod"/>
            </a:pPr>
            <a:r>
              <a:rPr lang="en-US" dirty="0">
                <a:solidFill>
                  <a:schemeClr val="accent1">
                    <a:lumMod val="75000"/>
                  </a:schemeClr>
                </a:solidFill>
              </a:rPr>
              <a:t>Detected missing values in Passengers, </a:t>
            </a:r>
            <a:r>
              <a:rPr lang="en-US" dirty="0" err="1">
                <a:solidFill>
                  <a:schemeClr val="accent1">
                    <a:lumMod val="75000"/>
                  </a:schemeClr>
                </a:solidFill>
              </a:rPr>
              <a:t>Ticket_Type</a:t>
            </a:r>
            <a:r>
              <a:rPr lang="en-US" dirty="0">
                <a:solidFill>
                  <a:schemeClr val="accent1">
                    <a:lumMod val="75000"/>
                  </a:schemeClr>
                </a:solidFill>
              </a:rPr>
              <a:t>, and Remarks columns</a:t>
            </a:r>
            <a:r>
              <a:rPr lang="en-US" dirty="0"/>
              <a:t>.</a:t>
            </a:r>
          </a:p>
          <a:p>
            <a:pPr marL="514350" indent="-514350">
              <a:buFont typeface="+mj-lt"/>
              <a:buAutoNum type="arabicPeriod"/>
            </a:pPr>
            <a:r>
              <a:rPr lang="en-US" dirty="0">
                <a:solidFill>
                  <a:srgbClr val="FFC000"/>
                </a:solidFill>
              </a:rPr>
              <a:t>Filled </a:t>
            </a:r>
            <a:r>
              <a:rPr lang="en-US" dirty="0" err="1">
                <a:solidFill>
                  <a:srgbClr val="FFC000"/>
                </a:solidFill>
              </a:rPr>
              <a:t>Ticket_Type</a:t>
            </a:r>
            <a:r>
              <a:rPr lang="en-US" dirty="0">
                <a:solidFill>
                  <a:srgbClr val="FFC000"/>
                </a:solidFill>
              </a:rPr>
              <a:t> using its Mode (most frequent value).</a:t>
            </a:r>
          </a:p>
          <a:p>
            <a:pPr marL="514350" indent="-514350">
              <a:buFont typeface="+mj-lt"/>
              <a:buAutoNum type="arabicPeriod"/>
            </a:pPr>
            <a:r>
              <a:rPr lang="en-US" dirty="0">
                <a:solidFill>
                  <a:schemeClr val="accent6"/>
                </a:solidFill>
              </a:rPr>
              <a:t>Filled Passengers using Median to handle skewed passenger counts.</a:t>
            </a:r>
            <a:endParaRPr lang="en-US" spc="-150" dirty="0">
              <a:solidFill>
                <a:schemeClr val="accent6"/>
              </a:solidFill>
            </a:endParaRPr>
          </a:p>
        </p:txBody>
      </p:sp>
    </p:spTree>
    <p:extLst>
      <p:ext uri="{BB962C8B-B14F-4D97-AF65-F5344CB8AC3E}">
        <p14:creationId xmlns:p14="http://schemas.microsoft.com/office/powerpoint/2010/main" val="1208993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8D202-59BF-39B7-33E8-F7F8328B04AE}"/>
              </a:ext>
            </a:extLst>
          </p:cNvPr>
          <p:cNvSpPr>
            <a:spLocks noGrp="1"/>
          </p:cNvSpPr>
          <p:nvPr>
            <p:ph type="title"/>
          </p:nvPr>
        </p:nvSpPr>
        <p:spPr>
          <a:xfrm>
            <a:off x="838200" y="0"/>
            <a:ext cx="10515600" cy="1325563"/>
          </a:xfrm>
        </p:spPr>
        <p:txBody>
          <a:bodyPr/>
          <a:lstStyle/>
          <a:p>
            <a:pPr algn="ctr"/>
            <a:r>
              <a:rPr lang="en-IN" dirty="0">
                <a:solidFill>
                  <a:schemeClr val="bg2"/>
                </a:solidFill>
                <a:highlight>
                  <a:srgbClr val="800000"/>
                </a:highlight>
              </a:rPr>
              <a:t>Analysis Highlights &amp; Insights</a:t>
            </a:r>
          </a:p>
        </p:txBody>
      </p:sp>
      <p:sp>
        <p:nvSpPr>
          <p:cNvPr id="3" name="Content Placeholder 2">
            <a:extLst>
              <a:ext uri="{FF2B5EF4-FFF2-40B4-BE49-F238E27FC236}">
                <a16:creationId xmlns:a16="http://schemas.microsoft.com/office/drawing/2014/main" id="{2F47DE2A-6DF7-9402-819C-31944D543547}"/>
              </a:ext>
            </a:extLst>
          </p:cNvPr>
          <p:cNvSpPr>
            <a:spLocks noGrp="1"/>
          </p:cNvSpPr>
          <p:nvPr>
            <p:ph idx="1"/>
          </p:nvPr>
        </p:nvSpPr>
        <p:spPr>
          <a:xfrm>
            <a:off x="112295" y="1325562"/>
            <a:ext cx="11951368" cy="5532437"/>
          </a:xfrm>
        </p:spPr>
        <p:txBody>
          <a:bodyPr/>
          <a:lstStyle/>
          <a:p>
            <a:pPr marL="514350" indent="-514350">
              <a:buFont typeface="+mj-lt"/>
              <a:buAutoNum type="arabicPeriod"/>
            </a:pPr>
            <a:r>
              <a:rPr lang="en-US" dirty="0">
                <a:solidFill>
                  <a:schemeClr val="accent6">
                    <a:lumMod val="50000"/>
                  </a:schemeClr>
                </a:solidFill>
              </a:rPr>
              <a:t>Identified the busiest metro stations by aggregating passenger counts and trip frequency.</a:t>
            </a:r>
            <a:br>
              <a:rPr lang="en-US" dirty="0">
                <a:solidFill>
                  <a:schemeClr val="accent6">
                    <a:lumMod val="50000"/>
                  </a:schemeClr>
                </a:solidFill>
              </a:rPr>
            </a:br>
            <a:r>
              <a:rPr lang="en-US" dirty="0">
                <a:solidFill>
                  <a:schemeClr val="accent6">
                    <a:lumMod val="50000"/>
                  </a:schemeClr>
                </a:solidFill>
              </a:rPr>
              <a:t>(Stations like Rajiv Chowk Noida City Center Hauz Khas ranked highest.)</a:t>
            </a:r>
          </a:p>
          <a:p>
            <a:pPr marL="514350" indent="-514350">
              <a:buFont typeface="+mj-lt"/>
              <a:buAutoNum type="arabicPeriod"/>
            </a:pPr>
            <a:r>
              <a:rPr lang="en-US" dirty="0">
                <a:solidFill>
                  <a:srgbClr val="C00000"/>
                </a:solidFill>
              </a:rPr>
              <a:t>Analyzed Ticket Type distribution to find how passengers prefer to travel (Smart Card, Single, Return and Tourist Card).</a:t>
            </a:r>
            <a:br>
              <a:rPr lang="en-US" dirty="0">
                <a:solidFill>
                  <a:srgbClr val="C00000"/>
                </a:solidFill>
              </a:rPr>
            </a:br>
            <a:r>
              <a:rPr lang="en-US" dirty="0">
                <a:solidFill>
                  <a:srgbClr val="C00000"/>
                </a:solidFill>
              </a:rPr>
              <a:t>(</a:t>
            </a:r>
            <a:r>
              <a:rPr lang="en-US" dirty="0" err="1">
                <a:solidFill>
                  <a:srgbClr val="C00000"/>
                </a:solidFill>
              </a:rPr>
              <a:t>Tourist_Card</a:t>
            </a:r>
            <a:r>
              <a:rPr lang="en-US" dirty="0">
                <a:solidFill>
                  <a:srgbClr val="C00000"/>
                </a:solidFill>
              </a:rPr>
              <a:t> dominate, indicating a large base of daily commuters.)</a:t>
            </a:r>
          </a:p>
          <a:p>
            <a:pPr marL="514350" indent="-514350">
              <a:buFont typeface="+mj-lt"/>
              <a:buAutoNum type="arabicPeriod"/>
            </a:pPr>
            <a:r>
              <a:rPr lang="en-US" dirty="0">
                <a:solidFill>
                  <a:srgbClr val="002060"/>
                </a:solidFill>
              </a:rPr>
              <a:t>Calculated monthly and yearly profit using Fare, Passengers, and </a:t>
            </a:r>
            <a:r>
              <a:rPr lang="en-US" dirty="0" err="1">
                <a:solidFill>
                  <a:srgbClr val="002060"/>
                </a:solidFill>
              </a:rPr>
              <a:t>Cost_per_passenger</a:t>
            </a:r>
            <a:r>
              <a:rPr lang="en-US" dirty="0">
                <a:solidFill>
                  <a:srgbClr val="002060"/>
                </a:solidFill>
              </a:rPr>
              <a:t>.</a:t>
            </a:r>
            <a:br>
              <a:rPr lang="en-US" dirty="0">
                <a:solidFill>
                  <a:srgbClr val="002060"/>
                </a:solidFill>
              </a:rPr>
            </a:br>
            <a:r>
              <a:rPr lang="en-US" dirty="0">
                <a:solidFill>
                  <a:srgbClr val="002060"/>
                </a:solidFill>
              </a:rPr>
              <a:t>(Profit trends show seasonal peaks and line-specific variations.)</a:t>
            </a:r>
          </a:p>
          <a:p>
            <a:pPr marL="514350" indent="-514350">
              <a:buFont typeface="+mj-lt"/>
              <a:buAutoNum type="arabicPeriod"/>
            </a:pPr>
            <a:r>
              <a:rPr lang="en-US" dirty="0">
                <a:solidFill>
                  <a:srgbClr val="0070C0"/>
                </a:solidFill>
              </a:rPr>
              <a:t>• Determined the busiest metro lines by grouping trips using the engineered </a:t>
            </a:r>
            <a:r>
              <a:rPr lang="en-US" dirty="0" err="1">
                <a:solidFill>
                  <a:srgbClr val="0070C0"/>
                </a:solidFill>
              </a:rPr>
              <a:t>Metro_Line</a:t>
            </a:r>
            <a:r>
              <a:rPr lang="en-US" dirty="0">
                <a:solidFill>
                  <a:srgbClr val="0070C0"/>
                </a:solidFill>
              </a:rPr>
              <a:t> column.</a:t>
            </a:r>
            <a:br>
              <a:rPr lang="en-US" dirty="0">
                <a:solidFill>
                  <a:srgbClr val="0070C0"/>
                </a:solidFill>
              </a:rPr>
            </a:br>
            <a:r>
              <a:rPr lang="en-US" dirty="0">
                <a:solidFill>
                  <a:srgbClr val="0070C0"/>
                </a:solidFill>
              </a:rPr>
              <a:t>(Yellow and Blue lines carry the highest load.)</a:t>
            </a:r>
            <a:endParaRPr lang="en-IN" dirty="0">
              <a:solidFill>
                <a:srgbClr val="0070C0"/>
              </a:solidFill>
            </a:endParaRPr>
          </a:p>
        </p:txBody>
      </p:sp>
    </p:spTree>
    <p:extLst>
      <p:ext uri="{BB962C8B-B14F-4D97-AF65-F5344CB8AC3E}">
        <p14:creationId xmlns:p14="http://schemas.microsoft.com/office/powerpoint/2010/main" val="37761218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297</Words>
  <Application>Microsoft Office PowerPoint</Application>
  <PresentationFormat>Widescreen</PresentationFormat>
  <Paragraphs>13</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Delhi Metro Analysis</vt:lpstr>
      <vt:lpstr>Data Cleaning and preprocessing</vt:lpstr>
      <vt:lpstr>Analysis Highlights &amp; Insights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akash mohan</dc:creator>
  <cp:lastModifiedBy>akash mohan</cp:lastModifiedBy>
  <cp:revision>1</cp:revision>
  <dcterms:created xsi:type="dcterms:W3CDTF">2025-11-10T16:55:29Z</dcterms:created>
  <dcterms:modified xsi:type="dcterms:W3CDTF">2025-11-10T17:02:04Z</dcterms:modified>
</cp:coreProperties>
</file>